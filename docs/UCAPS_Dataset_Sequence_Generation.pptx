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2E7D32"/>
                </a:solidFill>
              </a:defRPr>
            </a:pPr>
            <a:r>
              <a:t>UCAPS Dataset Analysis &amp; Face Crop Sequence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Phase 3: Computer Vision Pipeline for Cattle Pain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UCAPS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📈 Complete Dataset Statistics:</a:t>
            </a:r>
          </a:p>
          <a:p>
            <a:r>
              <a:t>• 20 Animals with facial videos</a:t>
            </a:r>
          </a:p>
          <a:p>
            <a:r>
              <a:t>• 138 Total Videos (16.39 GB)</a:t>
            </a:r>
          </a:p>
          <a:p>
            <a:r>
              <a:t>• 19 Animals with complete video + Excel matching</a:t>
            </a:r>
          </a:p>
          <a:p>
            <a:r>
              <a:t>• 130 Video-Excel pairs ready for training</a:t>
            </a:r>
          </a:p>
          <a:p>
            <a:r>
              <a:t>• 1.11 hours of total video content</a:t>
            </a:r>
          </a:p>
          <a:p/>
          <a:p>
            <a:r>
              <a:t>🎯 Quality Distribution:</a:t>
            </a:r>
          </a:p>
          <a:p>
            <a:r>
              <a:t>• EXCELLENT: 78.9% (15 animals)</a:t>
            </a:r>
          </a:p>
          <a:p>
            <a:r>
              <a:t>• GOOD: 15.8% (3 animals)</a:t>
            </a:r>
          </a:p>
          <a:p>
            <a:r>
              <a:t>• FAIR: 5.3% (1 animal)</a:t>
            </a:r>
          </a:p>
          <a:p>
            <a:r>
              <a:t>• POOR: 0.0% (0 animals)</a:t>
            </a:r>
          </a:p>
          <a:p/>
          <a:p>
            <a:r>
              <a:t>⚡ Technical Specifications:</a:t>
            </a:r>
          </a:p>
          <a:p>
            <a:r>
              <a:t>• Resolution: 100% HD (1920x1080)</a:t>
            </a:r>
          </a:p>
          <a:p>
            <a:r>
              <a:t>• Frame Rate: Consistent 24 fps</a:t>
            </a:r>
          </a:p>
          <a:p>
            <a:r>
              <a:t>• Duration Range: 4.2s - 60.8s (avg: 29.3s)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Moment Coverage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🎯 Moment Distribution:</a:t>
            </a:r>
          </a:p>
          <a:p>
            <a:r>
              <a:t>• M0: 100.0% coverage (22 videos)</a:t>
            </a:r>
          </a:p>
          <a:p>
            <a:r>
              <a:t>• M1: 100.0% coverage (29 videos)</a:t>
            </a:r>
          </a:p>
          <a:p>
            <a:r>
              <a:t>• M2: 90.0% coverage (31 videos)</a:t>
            </a:r>
          </a:p>
          <a:p>
            <a:r>
              <a:t>• M3: 95.0% coverage (28 videos)</a:t>
            </a:r>
          </a:p>
          <a:p>
            <a:r>
              <a:t>• M4: 100.0% coverage (27 videos)</a:t>
            </a:r>
          </a:p>
          <a:p/>
          <a:p>
            <a:r>
              <a:t>📋 Training Dataset Completeness:</a:t>
            </a:r>
          </a:p>
          <a:p>
            <a:r>
              <a:t>• 19/20 animals with complete data</a:t>
            </a:r>
          </a:p>
          <a:p>
            <a:r>
              <a:t>• 92.8% data usability rate</a:t>
            </a:r>
          </a:p>
          <a:p>
            <a:r>
              <a:t>• All videos readable by OpenCV</a:t>
            </a:r>
          </a:p>
          <a:p/>
          <a:p>
            <a:r>
              <a:t>💯 Pain Score Coverage:</a:t>
            </a:r>
          </a:p>
          <a:p>
            <a:r>
              <a:t>• NRS Scores (0-10 scale)</a:t>
            </a:r>
          </a:p>
          <a:p>
            <a:r>
              <a:t>• VAS Scores (0-100 scale)</a:t>
            </a:r>
          </a:p>
          <a:p>
            <a:r>
              <a:t>• Multiple evaluator ratings (4 per moment)</a:t>
            </a:r>
          </a:p>
          <a:p>
            <a:r>
              <a:t>• Complete temporal progression (M0-M4)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Sequence Generation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⏱️ Key Decisions Based on Dataset Analysis:</a:t>
            </a:r>
          </a:p>
          <a:p/>
          <a:p>
            <a:r>
              <a:t>📏 Sequence Specifications:</a:t>
            </a:r>
          </a:p>
          <a:p>
            <a:r>
              <a:t>• Duration: 10 seconds per sequence</a:t>
            </a:r>
          </a:p>
          <a:p>
            <a:r>
              <a:t>• Frames: 240 frames (24 fps × 10s)</a:t>
            </a:r>
          </a:p>
          <a:p>
            <a:r>
              <a:t>• Overlap: 2 seconds between sequences</a:t>
            </a:r>
          </a:p>
          <a:p>
            <a:r>
              <a:t>• Total: 392 sequences generated</a:t>
            </a:r>
          </a:p>
          <a:p/>
          <a:p>
            <a:r>
              <a:t>🎯 Technical Parameters:</a:t>
            </a:r>
          </a:p>
          <a:p>
            <a:r>
              <a:t>• Model: YOLOv8n (98.9% mAP@0.5)</a:t>
            </a:r>
          </a:p>
          <a:p>
            <a:r>
              <a:t>• Confidence threshold: 0.6</a:t>
            </a:r>
          </a:p>
          <a:p>
            <a:r>
              <a:t>• Face crop size: 224×224 pixels</a:t>
            </a:r>
          </a:p>
          <a:p>
            <a:r>
              <a:t>• Processing speed: ~135ms per frame</a:t>
            </a:r>
          </a:p>
          <a:p/>
          <a:p>
            <a:r>
              <a:t>📁 Folder Structure:</a:t>
            </a:r>
          </a:p>
          <a:p>
            <a:r>
              <a:t>sequence/</a:t>
            </a:r>
          </a:p>
          <a:p>
            <a:r>
              <a:t>├── Animal_1_M0_Facial/</a:t>
            </a:r>
          </a:p>
          <a:p>
            <a:r>
              <a:t>│   ├── sequence_001/ (240 crops + metadata)</a:t>
            </a:r>
          </a:p>
          <a:p>
            <a:r>
              <a:t>│   ├── sequence_002/ (240 crops + metadata)</a:t>
            </a:r>
          </a:p>
          <a:p>
            <a:r>
              <a:t>│   └──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Processing Results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🎯 Final Statistics:</a:t>
            </a:r>
          </a:p>
          <a:p>
            <a:r>
              <a:t>• Videos Processed: 138/138 (100% success)</a:t>
            </a:r>
          </a:p>
          <a:p>
            <a:r>
              <a:t>• Total Sequences: 392 sequences</a:t>
            </a:r>
          </a:p>
          <a:p>
            <a:r>
              <a:t>• Total Face Crops: 92,494 face images</a:t>
            </a:r>
          </a:p>
          <a:p>
            <a:r>
              <a:t>• Processing Time: 371.2 minutes</a:t>
            </a:r>
          </a:p>
          <a:p>
            <a:r>
              <a:t>• Zero errors encountered</a:t>
            </a:r>
          </a:p>
          <a:p/>
          <a:p>
            <a:r>
              <a:t>📊 Quality Metrics:</a:t>
            </a:r>
          </a:p>
          <a:p>
            <a:r>
              <a:t>• High confidence detections (0.95-0.96)</a:t>
            </a:r>
          </a:p>
          <a:p>
            <a:r>
              <a:t>• Consistent 224×224 crop dimensions</a:t>
            </a:r>
          </a:p>
          <a:p>
            <a:r>
              <a:t>• Complete metadata for each sequence</a:t>
            </a:r>
          </a:p>
          <a:p>
            <a:r>
              <a:t>• Structured organization for ML training</a:t>
            </a:r>
          </a:p>
          <a:p/>
          <a:p>
            <a:r>
              <a:t>🚀 Key Achievements:</a:t>
            </a:r>
          </a:p>
          <a:p>
            <a:r>
              <a:t>• Automated 10-second sequence extraction</a:t>
            </a:r>
          </a:p>
          <a:p>
            <a:r>
              <a:t>• Maintained temporal continuity with overlap</a:t>
            </a:r>
          </a:p>
          <a:p>
            <a:r>
              <a:t>• Standardized face crops for landmark detection</a:t>
            </a:r>
          </a:p>
          <a:p>
            <a:r>
              <a:t>• Ready for Phase 4: Facial Landmark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Technical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🎯 Model Selection:</a:t>
            </a:r>
          </a:p>
          <a:p>
            <a:r>
              <a:t>• YOLOv8n chosen for speed vs accuracy balance</a:t>
            </a:r>
          </a:p>
          <a:p>
            <a:r>
              <a:t>• 2.7x faster than YOLOv11s (135ms vs 369ms/frame)</a:t>
            </a:r>
          </a:p>
          <a:p>
            <a:r>
              <a:t>• 95.0% avg confidence vs 90.0% for YOLOv11s</a:t>
            </a:r>
          </a:p>
          <a:p>
            <a:r>
              <a:t>• 98.9% mAP@0.5 validation accuracy</a:t>
            </a:r>
          </a:p>
          <a:p/>
          <a:p>
            <a:r>
              <a:t>⚡ Processing Pipeline:</a:t>
            </a:r>
          </a:p>
          <a:p>
            <a:r>
              <a:t>1. Video → Frame extraction (24 fps)</a:t>
            </a:r>
          </a:p>
          <a:p>
            <a:r>
              <a:t>2. Frame → Face detection (YOLOv8n)</a:t>
            </a:r>
          </a:p>
          <a:p>
            <a:r>
              <a:t>3. Detection → Crop extraction (224×224)</a:t>
            </a:r>
          </a:p>
          <a:p>
            <a:r>
              <a:t>4. Crop → Sequence organization</a:t>
            </a:r>
          </a:p>
          <a:p>
            <a:r>
              <a:t>5. Metadata → JSON storage</a:t>
            </a:r>
          </a:p>
          <a:p/>
          <a:p>
            <a:r>
              <a:t>📋 Sequence Metadata Includes:</a:t>
            </a:r>
          </a:p>
          <a:p>
            <a:r>
              <a:t>• Video path and timing information</a:t>
            </a:r>
          </a:p>
          <a:p>
            <a:r>
              <a:t>• Frame count and duration</a:t>
            </a:r>
          </a:p>
          <a:p>
            <a:r>
              <a:t>• Face detection confidence scores</a:t>
            </a:r>
          </a:p>
          <a:p>
            <a:r>
              <a:t>• Bounding box coordinates</a:t>
            </a:r>
          </a:p>
          <a:p>
            <a:r>
              <a:t>• Processing timestamp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Next Steps &amp; Research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🎯 Ready for Phase 4: Facial Landmark Detection</a:t>
            </a:r>
          </a:p>
          <a:p>
            <a:r>
              <a:t>• 92,494 face crops ready for training</a:t>
            </a:r>
          </a:p>
          <a:p>
            <a:r>
              <a:t>• Standardized dimensions for consistency</a:t>
            </a:r>
          </a:p>
          <a:p>
            <a:r>
              <a:t>• Multiple sequences per video for temporal analysis</a:t>
            </a:r>
          </a:p>
          <a:p>
            <a:r>
              <a:t>• Complete metadata for reproducibility</a:t>
            </a:r>
          </a:p>
          <a:p/>
          <a:p>
            <a:r>
              <a:t>📈 Research Contributions:</a:t>
            </a:r>
          </a:p>
          <a:p>
            <a:r>
              <a:t>• Novel automated cattle pain assessment pipeline</a:t>
            </a:r>
          </a:p>
          <a:p>
            <a:r>
              <a:t>• Large-scale face crop dataset for veterinary AI</a:t>
            </a:r>
          </a:p>
          <a:p>
            <a:r>
              <a:t>• Standardized sequence generation methodology</a:t>
            </a:r>
          </a:p>
          <a:p>
            <a:r>
              <a:t>• Integration of computer vision with behavioral science</a:t>
            </a:r>
          </a:p>
          <a:p/>
          <a:p>
            <a:r>
              <a:t>🎓 Publication Potential:</a:t>
            </a:r>
          </a:p>
          <a:p>
            <a:r>
              <a:t>• Methods section: Dataset analysis &amp; preprocessing</a:t>
            </a:r>
          </a:p>
          <a:p>
            <a:r>
              <a:t>• Results section: Face detection performance</a:t>
            </a:r>
          </a:p>
          <a:p>
            <a:r>
              <a:t>• Technical innovation: Automated sequence generation</a:t>
            </a:r>
          </a:p>
          <a:p>
            <a:r>
              <a:t>• Validation: Cross-animal performance metrics</a:t>
            </a:r>
          </a:p>
          <a:p/>
          <a:p>
            <a:r>
              <a:t>📊 Project Status: 33% Complete</a:t>
            </a:r>
          </a:p>
          <a:p>
            <a:r>
              <a:t>Phase 1: Data Collection &amp; Analysis ✅</a:t>
            </a:r>
          </a:p>
          <a:p>
            <a:r>
              <a:t>Phase 2: Pain Score Integration ✅</a:t>
            </a:r>
          </a:p>
          <a:p>
            <a:r>
              <a:t>Phase 3: Face Detection &amp; Sequence Generation ✅</a:t>
            </a:r>
          </a:p>
          <a:p>
            <a:r>
              <a:t>Phase 4: Facial Landmark Detection (Next)</a:t>
            </a:r>
          </a:p>
          <a:p>
            <a:r>
              <a:t>Phase 5: Temporal Pain Analysis (Final)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